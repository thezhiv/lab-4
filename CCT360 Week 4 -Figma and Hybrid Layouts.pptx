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94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ivko Dimitrov" userId="93a6924f217a3ea9" providerId="LiveId" clId="{FB136260-5724-4901-AF3A-78A6632044BF}"/>
    <pc:docChg chg="modSld">
      <pc:chgData name="Zhivko Dimitrov" userId="93a6924f217a3ea9" providerId="LiveId" clId="{FB136260-5724-4901-AF3A-78A6632044BF}" dt="2026-10-23T01:28:37.440" v="1" actId="1076"/>
      <pc:docMkLst>
        <pc:docMk/>
      </pc:docMkLst>
      <pc:sldChg chg="modSp mod">
        <pc:chgData name="Zhivko Dimitrov" userId="93a6924f217a3ea9" providerId="LiveId" clId="{FB136260-5724-4901-AF3A-78A6632044BF}" dt="2026-10-23T01:28:37.440" v="1" actId="1076"/>
        <pc:sldMkLst>
          <pc:docMk/>
          <pc:sldMk cId="0" sldId="261"/>
        </pc:sldMkLst>
        <pc:spChg chg="mod">
          <ac:chgData name="Zhivko Dimitrov" userId="93a6924f217a3ea9" providerId="LiveId" clId="{FB136260-5724-4901-AF3A-78A6632044BF}" dt="2026-10-23T01:28:37.440" v="1" actId="1076"/>
          <ac:spMkLst>
            <pc:docMk/>
            <pc:sldMk cId="0" sldId="261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2011680"/>
            <a:ext cx="109728" cy="2743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80160" y="192024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284C7"/>
                </a:solidFill>
                <a:latin typeface="Arial"/>
              </a:defRPr>
            </a:pPr>
            <a:r>
              <a:t>CCT360H5 • WEEK 5 LECTURE &amp; LAB</a:t>
            </a:r>
          </a:p>
          <a:p>
            <a:pPr>
              <a:spcAft>
                <a:spcPts val="120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Wireframing, Figma Specs &amp; Hybrid CSS (Grid + Flexbox)</a:t>
            </a:r>
          </a:p>
          <a:p>
            <a:pPr>
              <a:defRPr sz="1400">
                <a:solidFill>
                  <a:srgbClr val="CBD5E1"/>
                </a:solidFill>
                <a:latin typeface="Arial"/>
              </a:defRPr>
            </a:pPr>
            <a:r>
              <a:t>Translating Figma Layouts to Code &amp; Project 1 Kickoff (2-Page Web Showcase)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CLASS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Today's Agenda &amp; Class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502152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13639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HOUR 1: LECTURE REVIEW</a:t>
            </a:r>
          </a:p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Wireframing &amp; Figma Essentials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 UX/UI layout planning &amp; visual wireframes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 Figma Frames, 12-Column Grids &amp; Design Tokens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 Mental model: CSS Grid (2D) vs. Flexbox (1D)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 Project 1 Kickoff: 2-Page Web Showcase (25%)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1463040"/>
            <a:ext cx="3502152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26280" y="1645920"/>
            <a:ext cx="313639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HOUR 2: LIVE WALK-ALONGFigma Design to Code Translation</a:t>
            </a:r>
          </a:p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Code-Along Layout Build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 Inspect Figma measurements, paddings, &amp; gaps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 Build semantic HTML structure from wireframe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 Apply CSS Grid (outer layout) + Flexbox (cards)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 Implement Mobile-First vertical stacking rules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80" y="1463040"/>
            <a:ext cx="3502152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0" y="1645920"/>
            <a:ext cx="313639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HOUR 3: STUDIO &amp; LAB 4</a:t>
            </a:r>
          </a:p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Take-Home Lab 4 &amp; Project Setup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 Lab 4 Kickoff: Hybrid Grid + Flexbox Layout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 Design 2 frames in Figma &amp; code responsive layout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 Deploy live site via GitHub Pages &amp; submit link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 Project 1 topic selection &amp; initial setup studio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WORKFLOW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The Design-to-Code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2011680" cy="6858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1. Sketch / Low-Fi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600200"/>
            <a:ext cx="8138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Arial"/>
              </a:defRPr>
            </a:pPr>
            <a:r>
              <a:t>Establish structural layout hierarchy and content priorities on paper or FigJam without styling distractions.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51760"/>
            <a:ext cx="1072865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2834640"/>
            <a:ext cx="2011680" cy="6858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2. Figma Visual Specs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788920"/>
            <a:ext cx="8138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Arial"/>
              </a:defRPr>
            </a:pPr>
            <a:r>
              <a:t>Set up Desktop (1440px) &amp; Mobile (390px) frames, 12-column layout grids, and explicit design system tokens.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840480"/>
            <a:ext cx="1072865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" y="4023360"/>
            <a:ext cx="2011680" cy="6858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3. DOM &amp; CSS Mapping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977640"/>
            <a:ext cx="8138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Arial"/>
              </a:defRPr>
            </a:pPr>
            <a:r>
              <a:t>Identify 2D structural page containers (CSS Grid) vs. 1D directional component containers (Flexbox).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029200"/>
            <a:ext cx="1072865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14400" y="5212080"/>
            <a:ext cx="2011680" cy="6858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4. Mobile-First CSS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5166360"/>
            <a:ext cx="8138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Arial"/>
              </a:defRPr>
            </a:pPr>
            <a:r>
              <a:t>Write single-column base styles for mobile viewports (&lt;768px) first, layering media queries for desktop layouts.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UI TOOLING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Figma Core Concepts for Web Developers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285232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73659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Frames (Viewports)</a:t>
            </a:r>
          </a:p>
          <a:p>
            <a:pPr>
              <a:defRPr sz="1200">
                <a:solidFill>
                  <a:srgbClr val="475569"/>
                </a:solidFill>
                <a:latin typeface="Arial"/>
              </a:defRPr>
            </a:pPr>
            <a:r>
              <a:t>Frames act as screen boundaries (e.g., Desktop 1440px, Mobile 390px). Think of top-level frames as browser viewports.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1463040"/>
            <a:ext cx="5285232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737360"/>
            <a:ext cx="473659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12-Column Layout Grids</a:t>
            </a:r>
          </a:p>
          <a:p>
            <a:pPr>
              <a:defRPr sz="1200">
                <a:solidFill>
                  <a:srgbClr val="475569"/>
                </a:solidFill>
                <a:latin typeface="Arial"/>
              </a:defRPr>
            </a:pPr>
            <a:r>
              <a:t>Layout overlays with 24px gutters and 80px margins. Helps align page content strictly across desktop breakpoints.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886200"/>
            <a:ext cx="5285232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4160520"/>
            <a:ext cx="473659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Visual Component Wireframing</a:t>
            </a:r>
          </a:p>
          <a:p>
            <a:pPr>
              <a:defRPr sz="1200">
                <a:solidFill>
                  <a:srgbClr val="475569"/>
                </a:solidFill>
                <a:latin typeface="Arial"/>
              </a:defRPr>
            </a:pPr>
            <a:r>
              <a:t>Block out headers, hero split sections, card galleries, and footers using basic shapes and text placeholders.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3886200"/>
            <a:ext cx="5285232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4160520"/>
            <a:ext cx="473659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Design Tokens &amp; Dev Mode</a:t>
            </a:r>
          </a:p>
          <a:p>
            <a:pPr>
              <a:defRPr sz="1200">
                <a:solidFill>
                  <a:srgbClr val="475569"/>
                </a:solidFill>
                <a:latin typeface="Arial"/>
              </a:defRPr>
            </a:pPr>
            <a:r>
              <a:t>Explicitly document color palettes and typography scales. Read CSS measurements directly (gap, padding, hex colors).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CSS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When to Use CSS Grid vs. CSS Flexbox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285232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73659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284C7"/>
                </a:solidFill>
                <a:latin typeface="Arial"/>
              </a:defRPr>
            </a:pPr>
            <a:r>
              <a:t>CSS GRID (2D LAYOUT ENGINE)</a:t>
            </a:r>
          </a:p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  <a:latin typeface="Arial"/>
              </a:defRPr>
            </a:pPr>
            <a:r>
              <a:t>Best for Macro Page Structure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✔  Controls BOTH rows and columns simultaneously (2D).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✔  Asymmetric layout splits (e.g., 2fr 1fr hero, 3fr 1fr detail split).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✔  Multi-column card galleries using repeat(auto-fit, minmax()).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✔  Mobile-First rule: Default to single vertical column (1fr) on mobile.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✔  Media query @media (min-width: 768px) expands to multi-column.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1463040"/>
            <a:ext cx="5285232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73659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284C7"/>
                </a:solidFill>
                <a:latin typeface="Arial"/>
              </a:defRPr>
            </a:pPr>
            <a:r>
              <a:t>CSS FLEXBOX (1D LAYOUT ENGINE)</a:t>
            </a:r>
          </a:p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  <a:latin typeface="Arial"/>
              </a:defRPr>
            </a:pPr>
            <a:r>
              <a:t>Best for Micro Components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✔  Controls content along a single axis (Row or Column).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✔  Shared header navigation (justify-content: space-between).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✔  Footer alignment and social links row.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✔  Vertical card interior layout (display: flex; flex-direction: column).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✔  Pushing action buttons to card bottoms (margin-top: auto).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Building a Hybrid Architecture in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285232" cy="4754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7448" y="1645920"/>
            <a:ext cx="491947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onsolas"/>
              </a:defRPr>
            </a:pPr>
            <a:r>
              <a:rPr dirty="0"/>
              <a:t>/* 1. Mobile-First Grid &amp; Stacking */</a:t>
            </a:r>
            <a:br>
              <a:rPr dirty="0"/>
            </a:br>
            <a:endParaRPr dirty="0"/>
          </a:p>
          <a:p>
            <a:pPr>
              <a:defRPr sz="1050">
                <a:solidFill>
                  <a:srgbClr val="F1F5F9"/>
                </a:solidFill>
                <a:latin typeface="Consolas"/>
              </a:defRPr>
            </a:pPr>
            <a:r>
              <a:rPr dirty="0"/>
              <a:t>/* Default Mobile: 1 Column Stack */</a:t>
            </a:r>
            <a:br>
              <a:rPr dirty="0"/>
            </a:br>
            <a:r>
              <a:rPr dirty="0"/>
              <a:t>.hero-grid, .content-grid {</a:t>
            </a:r>
            <a:br>
              <a:rPr dirty="0"/>
            </a:br>
            <a:r>
              <a:rPr dirty="0"/>
              <a:t>  display: grid;</a:t>
            </a:r>
            <a:br>
              <a:rPr dirty="0"/>
            </a:br>
            <a:r>
              <a:rPr dirty="0"/>
              <a:t>  grid-template-columns: 1fr;</a:t>
            </a:r>
            <a:br>
              <a:rPr dirty="0"/>
            </a:br>
            <a:r>
              <a:rPr dirty="0"/>
              <a:t>  gap: 24px;</a:t>
            </a:r>
            <a:br>
              <a:rPr dirty="0"/>
            </a:br>
            <a:r>
              <a:rPr dirty="0"/>
              <a:t>}</a:t>
            </a:r>
            <a:br>
              <a:rPr dirty="0"/>
            </a:br>
            <a:br>
              <a:rPr dirty="0"/>
            </a:br>
            <a:r>
              <a:rPr dirty="0"/>
              <a:t>/* Desktop Expansion (≥768px) */</a:t>
            </a:r>
            <a:br>
              <a:rPr dirty="0"/>
            </a:br>
            <a:r>
              <a:rPr dirty="0"/>
              <a:t>@media (min-width: 768px) {</a:t>
            </a:r>
            <a:br>
              <a:rPr dirty="0"/>
            </a:br>
            <a:r>
              <a:rPr dirty="0"/>
              <a:t>  .hero-grid {</a:t>
            </a:r>
            <a:br>
              <a:rPr dirty="0"/>
            </a:br>
            <a:r>
              <a:rPr dirty="0"/>
              <a:t>    grid-template-columns: 2fr 1fr;</a:t>
            </a:r>
            <a:br>
              <a:rPr dirty="0"/>
            </a:br>
            <a:r>
              <a:rPr dirty="0"/>
              <a:t>  }</a:t>
            </a:r>
            <a:br>
              <a:rPr dirty="0"/>
            </a:br>
            <a:r>
              <a:rPr dirty="0"/>
              <a:t>  .content-grid {</a:t>
            </a:r>
            <a:br>
              <a:rPr dirty="0"/>
            </a:br>
            <a:r>
              <a:rPr dirty="0"/>
              <a:t>    grid-template-columns: 3fr 1fr;</a:t>
            </a:r>
            <a:br>
              <a:rPr dirty="0"/>
            </a:br>
            <a:r>
              <a:rPr dirty="0"/>
              <a:t>  }</a:t>
            </a:r>
            <a:br>
              <a:rPr dirty="0"/>
            </a:br>
            <a:r>
              <a:rPr dirty="0"/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1463040"/>
            <a:ext cx="5285232" cy="4754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55080" y="1645920"/>
            <a:ext cx="491947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onsolas"/>
              </a:defRPr>
            </a:pPr>
            <a:r>
              <a:rPr dirty="0"/>
              <a:t>/* 2. Inner Components &amp; Flexbox */</a:t>
            </a:r>
            <a:br>
              <a:rPr dirty="0"/>
            </a:br>
            <a:endParaRPr dirty="0"/>
          </a:p>
          <a:p>
            <a:pPr>
              <a:defRPr sz="1050">
                <a:solidFill>
                  <a:srgbClr val="F1F5F9"/>
                </a:solidFill>
                <a:latin typeface="Consolas"/>
              </a:defRPr>
            </a:pPr>
            <a:r>
              <a:rPr dirty="0"/>
              <a:t>.site-header {</a:t>
            </a:r>
            <a:br>
              <a:rPr dirty="0"/>
            </a:br>
            <a:r>
              <a:rPr dirty="0"/>
              <a:t>  display: flex;</a:t>
            </a:r>
            <a:br>
              <a:rPr dirty="0"/>
            </a:br>
            <a:r>
              <a:rPr dirty="0"/>
              <a:t>  justify-content: space-between;</a:t>
            </a:r>
            <a:br>
              <a:rPr dirty="0"/>
            </a:br>
            <a:r>
              <a:rPr dirty="0"/>
              <a:t>  align-items: center;</a:t>
            </a:r>
            <a:br>
              <a:rPr dirty="0"/>
            </a:br>
            <a:r>
              <a:rPr dirty="0"/>
              <a:t>}</a:t>
            </a:r>
            <a:br>
              <a:rPr dirty="0"/>
            </a:br>
            <a:br>
              <a:rPr dirty="0"/>
            </a:br>
            <a:r>
              <a:rPr dirty="0"/>
              <a:t>.card {</a:t>
            </a:r>
            <a:br>
              <a:rPr dirty="0"/>
            </a:br>
            <a:r>
              <a:rPr dirty="0"/>
              <a:t>  display: flex;</a:t>
            </a:r>
            <a:br>
              <a:rPr dirty="0"/>
            </a:br>
            <a:r>
              <a:rPr dirty="0"/>
              <a:t>  flex-direction: column;</a:t>
            </a:r>
            <a:br>
              <a:rPr dirty="0"/>
            </a:br>
            <a:r>
              <a:rPr dirty="0"/>
              <a:t>}</a:t>
            </a:r>
            <a:br>
              <a:rPr dirty="0"/>
            </a:br>
            <a:br>
              <a:rPr dirty="0"/>
            </a:br>
            <a:r>
              <a:rPr dirty="0"/>
              <a:t>.card button {</a:t>
            </a:r>
            <a:br>
              <a:rPr dirty="0"/>
            </a:br>
            <a:r>
              <a:rPr dirty="0"/>
              <a:t>  margin-top: auto;</a:t>
            </a:r>
            <a:br>
              <a:rPr dirty="0"/>
            </a:b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MAJOR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Project 1: 2-Page Creative Web Showcase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68580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6309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  <a:latin typeface="Arial"/>
              </a:defRPr>
            </a:pPr>
            <a:r>
              <a:t>Project 1: What Needs to Happen Briefly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 Pick 1 Theme: Personal Portfolio, Agency Studio, Webzine, or Event Hub.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 Build Page 1 (index.html): Asymmetric hero split (2fr 1fr) + auto-fit card gallery.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 Build Page 2 (detail.html): Deep dive article/case study + metadata sidebar split (3fr 1fr).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 Shared Header &amp; Footer: Functional relative links (&lt;a href="index.html"&gt; and &lt;a href="detail.html"&gt;) linking both pages seamlessly.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 Mobile Vertical Stacking: Both pages must collapse to 1 column (&lt;768px).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 Figma Spec: 4 Frames total (Desktop &amp; Mobile for Page 1 &amp; Page 2) + Design System Tokens.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463040"/>
            <a:ext cx="3687775" cy="4754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0" y="1645920"/>
            <a:ext cx="313913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0284C7"/>
                </a:solidFill>
                <a:latin typeface="Arial"/>
              </a:defRPr>
            </a:pPr>
            <a:r>
              <a:t>KEY ASSESSMENT METRICS</a:t>
            </a:r>
          </a:p>
          <a:p>
            <a:pPr>
              <a:defRPr sz="950" b="1">
                <a:solidFill>
                  <a:srgbClr val="94A3B8"/>
                </a:solidFill>
                <a:latin typeface="Arial"/>
              </a:defRPr>
            </a:pPr>
            <a:r>
              <a:t>WEIGHT</a:t>
            </a:r>
          </a:p>
          <a:p>
            <a:pPr>
              <a:spcAft>
                <a:spcPts val="1000"/>
              </a:spcAft>
              <a:defRPr sz="1250" b="1">
                <a:solidFill>
                  <a:srgbClr val="FFFFFF"/>
                </a:solidFill>
                <a:latin typeface="Arial"/>
              </a:defRPr>
            </a:pPr>
            <a:r>
              <a:t>25% of Final Grade</a:t>
            </a:r>
          </a:p>
          <a:p>
            <a:pPr>
              <a:defRPr sz="950" b="1">
                <a:solidFill>
                  <a:srgbClr val="94A3B8"/>
                </a:solidFill>
                <a:latin typeface="Arial"/>
              </a:defRPr>
            </a:pPr>
            <a:r>
              <a:t>RELEASED</a:t>
            </a:r>
          </a:p>
          <a:p>
            <a:pPr>
              <a:spcAft>
                <a:spcPts val="1000"/>
              </a:spcAft>
              <a:defRPr sz="1250" b="1">
                <a:solidFill>
                  <a:srgbClr val="FFFFFF"/>
                </a:solidFill>
                <a:latin typeface="Arial"/>
              </a:defRPr>
            </a:pPr>
            <a:r>
              <a:t>Week 5 (Today)</a:t>
            </a:r>
          </a:p>
          <a:p>
            <a:pPr>
              <a:defRPr sz="950" b="1">
                <a:solidFill>
                  <a:srgbClr val="94A3B8"/>
                </a:solidFill>
                <a:latin typeface="Arial"/>
              </a:defRPr>
            </a:pPr>
            <a:r>
              <a:t>DUE DATE</a:t>
            </a:r>
          </a:p>
          <a:p>
            <a:pPr>
              <a:spcAft>
                <a:spcPts val="1000"/>
              </a:spcAft>
              <a:defRPr sz="1250" b="1">
                <a:solidFill>
                  <a:srgbClr val="FFFFFF"/>
                </a:solidFill>
                <a:latin typeface="Arial"/>
              </a:defRPr>
            </a:pPr>
            <a:r>
              <a:t>Week 7 by 11:59 PM EDT</a:t>
            </a:r>
          </a:p>
          <a:p>
            <a:pPr>
              <a:defRPr sz="950" b="1">
                <a:solidFill>
                  <a:srgbClr val="94A3B8"/>
                </a:solidFill>
                <a:latin typeface="Arial"/>
              </a:defRPr>
            </a:pPr>
            <a:r>
              <a:t>DELIVERABLES</a:t>
            </a:r>
          </a:p>
          <a:p>
            <a:pPr>
              <a:spcAft>
                <a:spcPts val="1000"/>
              </a:spcAft>
              <a:defRPr sz="1250" b="1">
                <a:solidFill>
                  <a:srgbClr val="FFFFFF"/>
                </a:solidFill>
                <a:latin typeface="Arial"/>
              </a:defRPr>
            </a:pPr>
            <a:r>
              <a:t>Figma Link + GitHub Repo + GitHub Pages Link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901</Words>
  <Application>Microsoft Office PowerPoint</Application>
  <PresentationFormat>Widescreen</PresentationFormat>
  <Paragraphs>83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Zhivko Dimitrov</cp:lastModifiedBy>
  <cp:revision>1</cp:revision>
  <dcterms:created xsi:type="dcterms:W3CDTF">2013-01-27T09:14:16Z</dcterms:created>
  <dcterms:modified xsi:type="dcterms:W3CDTF">2026-10-23T01:29:16Z</dcterms:modified>
  <cp:category/>
</cp:coreProperties>
</file>